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8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91" r:id="rId9"/>
    <p:sldId id="264" r:id="rId10"/>
    <p:sldId id="286" r:id="rId11"/>
    <p:sldId id="280" r:id="rId12"/>
    <p:sldId id="288" r:id="rId13"/>
    <p:sldId id="292" r:id="rId14"/>
    <p:sldId id="289" r:id="rId15"/>
    <p:sldId id="287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013351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7391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2994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4594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1596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0214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9253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8432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69271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3756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48264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1264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3362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reyaKolekar/Investment-analyst-AI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r>
              <a:rPr lang="en-US" b="1"/>
              <a:t/>
            </a:r>
            <a:br>
              <a:rPr lang="en-US" b="1"/>
            </a:b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Cloud and Orchestrate</a:t>
            </a:r>
            <a:r>
              <a:rPr lang="en-US" b="1" i="1" dirty="0"/>
              <a:t>”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 panose="020F0502020204030204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 panose="02020603050405020304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96" name="Google Shape;96;p2"/>
          <p:cNvGraphicFramePr/>
          <p:nvPr/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/>
                <a:gridCol w="2443374"/>
                <a:gridCol w="2443374"/>
                <a:gridCol w="2443374"/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SHREYA LAXMAN KOLEKAR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shreyakolekar06@gmail.com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8208381534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- FINANCE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2321" y="588572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GB" sz="2400" b="1" dirty="0"/>
              <a:t>Sequential Task Agent – Investment Analyst </a:t>
            </a:r>
            <a:r>
              <a:rPr lang="en-US" sz="2400" b="1" dirty="0"/>
              <a:t>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569" y="3616291"/>
            <a:ext cx="845319" cy="11270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6344" y="705177"/>
            <a:ext cx="10607040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 </a:t>
            </a:r>
            <a:r>
              <a:rPr lang="en-GB" sz="2400" dirty="0"/>
              <a:t>Sequential Task Agent – Investment Analyst </a:t>
            </a:r>
          </a:p>
          <a:p>
            <a:endParaRPr lang="en-GB" dirty="0"/>
          </a:p>
          <a:p>
            <a:r>
              <a:rPr lang="en-GB" sz="1800" dirty="0"/>
              <a:t>The Challenge Investment analysts need to process multiple layers of information—financial reports, stock performance data, market news, and analyst opinions. Much of this information is fragmented and requires a sequence of tasks (data gathering, validation, analysis, comparison, and reporting) to generate useful insights. Manual workflows are time-consuming and prone to errors. The challenge is not just to collect market data but to automate sequential tasks that lead to actionable investment recommendations. The Objective Build a Sequential Task Agent that acts as an intelligent investment analyst. The solution should: </a:t>
            </a:r>
          </a:p>
          <a:p>
            <a:pPr marL="342900" indent="-342900">
              <a:buAutoNum type="arabicPeriod"/>
            </a:pPr>
            <a:r>
              <a:rPr lang="en-GB" sz="1800" dirty="0"/>
              <a:t>Automate Data Gathering: Collect financial data from multiple trusted sources such as company reports, stock exchanges, and market news feeds.</a:t>
            </a:r>
          </a:p>
          <a:p>
            <a:pPr marL="342900" indent="-342900">
              <a:buAutoNum type="arabicPeriod"/>
            </a:pPr>
            <a:r>
              <a:rPr lang="en-GB" sz="1800" dirty="0"/>
              <a:t>Perform Multi-Step Analysis: Sequentially process data (e.g., extract KPIs → calculate financial ratios → benchmark against competitors → </a:t>
            </a:r>
            <a:r>
              <a:rPr lang="en-GB" sz="1800" dirty="0" err="1"/>
              <a:t>analyze</a:t>
            </a:r>
            <a:r>
              <a:rPr lang="en-GB" sz="1800" dirty="0"/>
              <a:t> market sentiment). </a:t>
            </a:r>
          </a:p>
          <a:p>
            <a:pPr marL="342900" indent="-342900">
              <a:buAutoNum type="arabicPeriod"/>
            </a:pPr>
            <a:r>
              <a:rPr lang="en-GB" sz="1800" dirty="0"/>
              <a:t>Generate Predictive Insights: Identify trends, detect risks, and provide forward-looking recommendations (e.g., “Stock X shows declining margins—consider underweighting in portfolio”). </a:t>
            </a:r>
          </a:p>
          <a:p>
            <a:pPr marL="342900" indent="-342900">
              <a:buAutoNum type="arabicPeriod"/>
            </a:pPr>
            <a:r>
              <a:rPr lang="en-GB" sz="1800" dirty="0"/>
              <a:t>Deliver Structured Reports: Provide an easy-to-understand dashboard with investment summaries, trend charts, risk indicators, and AI-generated recommendations. Tech Stack (Mandatory) • IBM </a:t>
            </a:r>
            <a:r>
              <a:rPr lang="en-GB" sz="1800" dirty="0" err="1"/>
              <a:t>Langflow</a:t>
            </a:r>
            <a:r>
              <a:rPr lang="en-GB" sz="1800" dirty="0"/>
              <a:t> / IBM Orchestrate + IBM Models </a:t>
            </a:r>
            <a:endParaRPr lang="en-IN" sz="1800" dirty="0"/>
          </a:p>
          <a:p>
            <a:endParaRPr lang="en-IN" sz="18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72" y="1116985"/>
            <a:ext cx="10607040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GB" sz="1800" b="1" dirty="0"/>
              <a:t>AI-Powered Investment Analyst Agent</a:t>
            </a:r>
          </a:p>
          <a:p>
            <a:r>
              <a:rPr lang="en-GB" sz="1800" dirty="0"/>
              <a:t>Our solution is a multi-agent AI system that automates investment research and analysis.</a:t>
            </a:r>
          </a:p>
          <a:p>
            <a:r>
              <a:rPr lang="en-GB" sz="1800" b="1" dirty="0"/>
              <a:t>Workflow:</a:t>
            </a:r>
            <a:endParaRPr lang="en-GB" sz="1800" dirty="0"/>
          </a:p>
          <a:p>
            <a:r>
              <a:rPr lang="en-GB" sz="1800" dirty="0"/>
              <a:t>Collect financial data from trusted sources </a:t>
            </a:r>
          </a:p>
          <a:p>
            <a:r>
              <a:rPr lang="en-GB" sz="1800" dirty="0"/>
              <a:t>Extract KPIs and financial metrics </a:t>
            </a:r>
          </a:p>
          <a:p>
            <a:r>
              <a:rPr lang="en-GB" sz="1800" dirty="0"/>
              <a:t>Calculate ratios and performance indicators </a:t>
            </a:r>
          </a:p>
          <a:p>
            <a:r>
              <a:rPr lang="en-GB" sz="1800" dirty="0"/>
              <a:t>Compare companies with industry peers </a:t>
            </a:r>
          </a:p>
          <a:p>
            <a:r>
              <a:rPr lang="en-GB" sz="1800" dirty="0"/>
              <a:t>Analyse market sentiment and risks </a:t>
            </a:r>
          </a:p>
          <a:p>
            <a:r>
              <a:rPr lang="en-GB" sz="1800" dirty="0"/>
              <a:t>Generate investment recommendations </a:t>
            </a:r>
          </a:p>
          <a:p>
            <a:r>
              <a:rPr lang="en-GB" sz="1800" b="1" dirty="0"/>
              <a:t>Key Agents:</a:t>
            </a:r>
            <a:endParaRPr lang="en-GB" sz="1800" dirty="0"/>
          </a:p>
          <a:p>
            <a:r>
              <a:rPr lang="en-GB" sz="1800" dirty="0"/>
              <a:t>Financial Data Agent </a:t>
            </a:r>
          </a:p>
          <a:p>
            <a:r>
              <a:rPr lang="en-GB" sz="1800" dirty="0"/>
              <a:t>KPI Extraction Agent </a:t>
            </a:r>
          </a:p>
          <a:p>
            <a:r>
              <a:rPr lang="en-GB" sz="1800" dirty="0"/>
              <a:t>Sentiment Analysis Agent </a:t>
            </a:r>
          </a:p>
          <a:p>
            <a:r>
              <a:rPr lang="en-GB" sz="1800" dirty="0"/>
              <a:t>Benchmarking Agent </a:t>
            </a:r>
          </a:p>
          <a:p>
            <a:r>
              <a:rPr lang="en-GB" sz="1800" dirty="0"/>
              <a:t>Recommendation Agent </a:t>
            </a:r>
          </a:p>
          <a:p>
            <a:r>
              <a:rPr lang="en-GB" sz="1800" b="1" dirty="0"/>
              <a:t>Output:</a:t>
            </a:r>
            <a:r>
              <a:rPr lang="en-GB" sz="1800" dirty="0"/>
              <a:t/>
            </a:r>
            <a:br>
              <a:rPr lang="en-GB" sz="1800" dirty="0"/>
            </a:br>
            <a:r>
              <a:rPr lang="en-GB" sz="1800" dirty="0"/>
              <a:t>Interactive dashboard with financial insights, risk scores, trend analysis, and Buy/Hold/Sell recommendations.</a:t>
            </a:r>
          </a:p>
          <a:p>
            <a:pPr fontAlgn="base"/>
            <a:endParaRPr lang="en-US" sz="1800" dirty="0"/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576072" y="655320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0515600" cy="46782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/>
              <a:t>Langflow</a:t>
            </a:r>
            <a:r>
              <a:rPr lang="en-US" sz="1800" b="1" dirty="0"/>
              <a:t> platform </a:t>
            </a:r>
            <a:r>
              <a:rPr lang="en-US" sz="1800" dirty="0"/>
              <a:t>-For designing and orchestrating multi-agent workflows visually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Granite model </a:t>
            </a:r>
            <a:r>
              <a:rPr lang="en-US" sz="1800" dirty="0"/>
              <a:t>-  for </a:t>
            </a:r>
            <a:r>
              <a:rPr lang="en-US" sz="1800" dirty="0" err="1"/>
              <a:t>eg</a:t>
            </a:r>
            <a:r>
              <a:rPr lang="en-US" sz="1800" dirty="0"/>
              <a:t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It provides the infrastructure to build, deploy, and scale the Nutrition Agent efficiently. IBM Cloud enables a </a:t>
            </a:r>
            <a:r>
              <a:rPr lang="en-US" sz="1800" b="1" dirty="0"/>
              <a:t>reliable, secure, and scalable environment</a:t>
            </a:r>
            <a:r>
              <a:rPr lang="en-US" sz="1800" dirty="0"/>
              <a:t> for deploying the Nutrition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RAG– </a:t>
            </a:r>
            <a:r>
              <a:rPr lang="en-US" sz="1800" dirty="0"/>
              <a:t>RAG to </a:t>
            </a:r>
            <a:r>
              <a:rPr lang="en-US" sz="1800" b="1" dirty="0"/>
              <a:t>fetch real data first, then generate intelligent answers</a:t>
            </a:r>
            <a:r>
              <a:rPr lang="en-US" sz="1800" dirty="0"/>
              <a:t>, making the Nutrition Agent more trustworthy and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Watsonx.ai - </a:t>
            </a:r>
            <a:r>
              <a:rPr lang="en-US" sz="1800" dirty="0"/>
              <a:t>For model deployment, embeddings,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IBM BOB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400" b="1">
                <a:sym typeface="Times New Roman" panose="02020603050405020304"/>
              </a:rPr>
              <a:t>Orchestrate component</a:t>
            </a:r>
            <a:r>
              <a:rPr lang="en-US" sz="2400" b="1" dirty="0">
                <a:sym typeface="Times New Roman" panose="02020603050405020304"/>
              </a:rPr>
              <a:t> Used -</a:t>
            </a:r>
            <a:endParaRPr sz="2400" b="1" dirty="0">
              <a:sym typeface="Times New Roman" panose="02020603050405020304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4822" y="863187"/>
            <a:ext cx="882396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000" b="1" dirty="0"/>
              <a:t>Chat Input</a:t>
            </a:r>
            <a:r>
              <a:rPr lang="en-IN" sz="2000" dirty="0"/>
              <a:t> – Accepts user investment queries 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000" b="1" dirty="0"/>
              <a:t>IBM </a:t>
            </a:r>
            <a:r>
              <a:rPr lang="en-IN" sz="2000" b="1" dirty="0" err="1"/>
              <a:t>watsonx</a:t>
            </a:r>
            <a:r>
              <a:rPr lang="en-IN" sz="2000" b="1" dirty="0"/>
              <a:t> AI Agent</a:t>
            </a:r>
            <a:r>
              <a:rPr lang="en-IN" sz="2000" dirty="0"/>
              <a:t> – Coordinates workflow 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000" b="1" dirty="0"/>
              <a:t>Granite-4.0-8B-Instruct</a:t>
            </a:r>
            <a:r>
              <a:rPr lang="en-IN" sz="2000" dirty="0"/>
              <a:t> – Financial analysis and reasoning 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000" b="1" dirty="0"/>
              <a:t>Chat Output</a:t>
            </a:r>
            <a:r>
              <a:rPr lang="en-IN" sz="2000" dirty="0"/>
              <a:t> – Displays reports and recommendations 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000" b="1" dirty="0"/>
              <a:t>File Component</a:t>
            </a:r>
            <a:r>
              <a:rPr lang="en-IN" sz="2000" dirty="0"/>
              <a:t> – Stores financial reports 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000" b="1" dirty="0"/>
              <a:t>RAG Retrieval Component</a:t>
            </a:r>
            <a:r>
              <a:rPr lang="en-IN" sz="2000" dirty="0"/>
              <a:t> – Retrieves relevant financial information </a:t>
            </a:r>
            <a:endParaRPr lang="en-US" sz="2000" dirty="0"/>
          </a:p>
          <a:p>
            <a:pPr>
              <a:spcBef>
                <a:spcPts val="1200"/>
              </a:spcBef>
            </a:pPr>
            <a:endParaRPr lang="en-US" sz="2000" dirty="0"/>
          </a:p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 panose="02020603050405020304"/>
              </a:rPr>
              <a:t>Agent Instructions Screenshot-</a:t>
            </a:r>
          </a:p>
          <a:p>
            <a:pPr>
              <a:buClr>
                <a:srgbClr val="051D3A"/>
              </a:buClr>
              <a:buSzPts val="3500"/>
            </a:pPr>
            <a:endParaRPr sz="2400" b="1" dirty="0">
              <a:sym typeface="Times New Roman" panose="020206030504050203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158" y="771747"/>
            <a:ext cx="9279987" cy="57999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/>
          <p:cNvSpPr/>
          <p:nvPr/>
        </p:nvSpPr>
        <p:spPr>
          <a:xfrm>
            <a:off x="537590" y="381112"/>
            <a:ext cx="7616194" cy="39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>
                <a:sym typeface="Times New Roman" panose="02020603050405020304"/>
              </a:rPr>
              <a:t>Prompt with output Screenshot: </a:t>
            </a: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" y="877824"/>
            <a:ext cx="8690458" cy="54315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/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Role of Agentic AI in Nutrition Agent</a:t>
            </a:r>
          </a:p>
          <a:p>
            <a:r>
              <a:rPr lang="en-US" b="1"/>
              <a:t>Agentic AI</a:t>
            </a:r>
            <a:r>
              <a:rPr lang="en-US"/>
              <a:t> enables the Nutrition Agent to function as an intelligent, autonomous system rather than a simple chatbot. Using </a:t>
            </a:r>
            <a:r>
              <a:rPr lang="en-US" b="1"/>
              <a:t>IBM watsonx.ai</a:t>
            </a:r>
            <a:r>
              <a:rPr lang="en-US"/>
              <a:t> and </a:t>
            </a:r>
            <a:r>
              <a:rPr lang="en-US" b="1"/>
              <a:t>IBM Granite models</a:t>
            </a:r>
            <a:r>
              <a:rPr lang="en-US"/>
              <a:t>, it coordinates multiple specialized agents to deliver personalized nutrition guidance.</a:t>
            </a:r>
          </a:p>
          <a:p>
            <a:r>
              <a:rPr lang="en-US"/>
              <a:t>Each agent performs a specific role—such as retrieving nutritional data, generating diet plans, providing health advice, and analyzing food logs—while working collaboratively. This </a:t>
            </a:r>
            <a:r>
              <a:rPr lang="en-US" b="1"/>
              <a:t>multi-agent approach</a:t>
            </a:r>
            <a:r>
              <a:rPr lang="en-US"/>
              <a:t> ensures efficient task execution and accurate results.</a:t>
            </a:r>
          </a:p>
          <a:p>
            <a:r>
              <a:rPr lang="en-US"/>
              <a:t>Agentic AI also brings </a:t>
            </a:r>
            <a:r>
              <a:rPr lang="en-US" b="1"/>
              <a:t>context awareness</a:t>
            </a:r>
            <a:r>
              <a:rPr lang="en-US"/>
              <a:t>, understanding user details like age, health conditions, and fitness goals to generate tailored recommendations. It supports </a:t>
            </a:r>
            <a:r>
              <a:rPr lang="en-US" b="1"/>
              <a:t>real-time adaptation</a:t>
            </a:r>
            <a:r>
              <a:rPr lang="en-US"/>
              <a:t>, continuously updating suggestions based on user inputs like daily meals.</a:t>
            </a:r>
          </a:p>
          <a:p>
            <a:r>
              <a:rPr lang="en-US"/>
              <a:t>Additionally, agents communicate with each other, enabling better decision-making and improved outcomes.</a:t>
            </a:r>
          </a:p>
          <a:p>
            <a:r>
              <a:rPr lang="en-US"/>
              <a:t>Overall, Agentic AI makes the system proactive, personalized, and goal-driven, acting like a </a:t>
            </a:r>
            <a:r>
              <a:rPr lang="en-US" b="1"/>
              <a:t>smart digital nutritionist</a:t>
            </a:r>
            <a:r>
              <a:rPr lang="en-US"/>
              <a:t> that helps users maintain a healthy lifestyle.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1301984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Innovations</a:t>
            </a:r>
          </a:p>
          <a:p>
            <a:r>
              <a:rPr lang="en-US" dirty="0"/>
              <a:t>Multi-agent sequential analysis workflow </a:t>
            </a:r>
          </a:p>
          <a:p>
            <a:r>
              <a:rPr lang="en-US" dirty="0"/>
              <a:t>RAG-powered financial intelligence </a:t>
            </a:r>
          </a:p>
          <a:p>
            <a:r>
              <a:rPr lang="en-US" dirty="0"/>
              <a:t>Automated KPI and ratio calculation </a:t>
            </a:r>
          </a:p>
          <a:p>
            <a:r>
              <a:rPr lang="en-US" dirty="0"/>
              <a:t>Real-time market sentiment analysis </a:t>
            </a:r>
          </a:p>
          <a:p>
            <a:r>
              <a:rPr lang="en-US" dirty="0"/>
              <a:t>Competitor benchmarking </a:t>
            </a:r>
          </a:p>
          <a:p>
            <a:r>
              <a:rPr lang="en-US" dirty="0"/>
              <a:t>AI-generated investment recommendations </a:t>
            </a:r>
          </a:p>
          <a:p>
            <a:r>
              <a:rPr lang="en-US" dirty="0"/>
              <a:t>Scalable IBM watsonx.ai architecture </a:t>
            </a:r>
          </a:p>
          <a:p>
            <a:r>
              <a:rPr lang="en-US" dirty="0"/>
              <a:t>Unlike traditional stock screeners, the system provides end-to-end investment research and actionable insights.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b="1" dirty="0"/>
              <a:t>Future Scope</a:t>
            </a:r>
          </a:p>
          <a:p>
            <a:r>
              <a:rPr lang="en-US" dirty="0"/>
              <a:t>Portfolio management integration </a:t>
            </a:r>
          </a:p>
          <a:p>
            <a:r>
              <a:rPr lang="en-US" dirty="0"/>
              <a:t>Real-time market monitoring and alerts </a:t>
            </a:r>
          </a:p>
          <a:p>
            <a:r>
              <a:rPr lang="en-US" dirty="0"/>
              <a:t>Advanced stock price forecasting </a:t>
            </a:r>
          </a:p>
          <a:p>
            <a:r>
              <a:rPr lang="en-US" dirty="0"/>
              <a:t>Support for global markets and cryptocurrencies </a:t>
            </a:r>
          </a:p>
          <a:p>
            <a:r>
              <a:rPr lang="en-US" dirty="0"/>
              <a:t>Voice-enabled investment assistant </a:t>
            </a:r>
          </a:p>
          <a:p>
            <a:r>
              <a:rPr lang="en-US" dirty="0"/>
              <a:t>Personalized investment strategies 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/>
              <a:t>These lengths are much closer to what judges typically expect in hackathon/IBM project PPTs—around </a:t>
            </a:r>
            <a:r>
              <a:rPr lang="en-US" b="1"/>
              <a:t>5–8 bullet points per slide</a:t>
            </a:r>
            <a:r>
              <a:rPr lang="en-US"/>
              <a:t> instead of paragraphs.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 dirty="0">
                <a:sym typeface="Times New Roman" panose="02020603050405020304"/>
              </a:rPr>
              <a:t>Future Scope </a:t>
            </a:r>
          </a:p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endParaRPr lang="en-US" sz="2400" b="1" dirty="0"/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Portfolio management integration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Real-time market monitoring and alerts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Advanced stock price forecasting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Support for global markets and cryptocurrencies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Voice-enabled investment assistant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Personalized investment strategies</a:t>
            </a:r>
          </a:p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endParaRPr sz="2400" b="1" dirty="0"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27949" y="207380"/>
            <a:ext cx="609600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 dirty="0"/>
              <a:t>Certificates Earned:</a:t>
            </a:r>
          </a:p>
          <a:p>
            <a:endParaRPr lang="en-US" sz="2400" b="1" dirty="0"/>
          </a:p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349" y="636112"/>
            <a:ext cx="7813517" cy="57646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454" y="496897"/>
            <a:ext cx="7979986" cy="586420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6696" y="226391"/>
            <a:ext cx="6096000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000000"/>
                </a:solidFill>
                <a:latin typeface="Arial" panose="020B0604020202020204"/>
              </a:rPr>
              <a:t>Certificates Earned:</a:t>
            </a:r>
            <a:r>
              <a:rPr sz="2400" b="0" i="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​</a:t>
            </a:r>
            <a:endParaRPr lang="en-US" sz="2400" b="0" i="0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endParaRPr lang="en-US" dirty="0"/>
          </a:p>
          <a:p>
            <a:pPr algn="ctr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487" y="825488"/>
            <a:ext cx="8438418" cy="52070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>
                <a:sym typeface="Times New Roman" panose="02020603050405020304"/>
              </a:rPr>
              <a:t>Git Hub Link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repository (Enable Add README  button while creating repository) with format – </a:t>
            </a:r>
          </a:p>
          <a:p>
            <a:pPr lvl="0">
              <a:lnSpc>
                <a:spcPct val="162000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URL –</a:t>
            </a:r>
            <a:r>
              <a:rPr lang="en-US" sz="2000" dirty="0" err="1">
                <a:hlinkClick r:id="rId3"/>
              </a:rPr>
              <a:t>ShreyaKolekar</a:t>
            </a:r>
            <a:r>
              <a:rPr lang="en-US" sz="2000" dirty="0">
                <a:hlinkClick r:id="rId3"/>
              </a:rPr>
              <a:t>/Investment-analyst-AI: A multi-agent AI system that automates investment research and analysis.</a:t>
            </a:r>
            <a:endParaRPr lang="en-US" sz="1850" dirty="0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162000"/>
              </a:lnSpc>
              <a:buClr>
                <a:srgbClr val="2B3541"/>
              </a:buClr>
              <a:buSzPts val="1850"/>
            </a:pPr>
            <a:r>
              <a:rPr lang="en-US" sz="185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/>
            </a:r>
            <a:br>
              <a:rPr lang="en-US" sz="185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b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798</Words>
  <Application>Microsoft Office PowerPoint</Application>
  <PresentationFormat>Widescreen</PresentationFormat>
  <Paragraphs>112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Microsoft account</cp:lastModifiedBy>
  <cp:revision>104</cp:revision>
  <dcterms:created xsi:type="dcterms:W3CDTF">2025-07-08T05:06:00Z</dcterms:created>
  <dcterms:modified xsi:type="dcterms:W3CDTF">2026-07-15T13:42:15Z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BAC3DAA1CBA64BB18CD8181EC8118661_13</vt:lpwstr>
  </property>
  <property fmtid="{D5CDD505-2E9C-101B-9397-08002B2CF9AE}" pid="3" name="KSOProductBuildVer">
    <vt:lpwstr>1033-12.1.0.26880</vt:lpwstr>
  </property>
</Properties>
</file>